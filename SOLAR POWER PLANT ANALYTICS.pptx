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11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41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03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8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9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2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6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75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64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223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6944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33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2241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54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61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87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84DD2-C1D7-4421-8FAE-A161EC6B63B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90A2205-87DD-4942-AE40-336200986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3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D242-0587-EA50-B021-0286BCC78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SOLAR POWER PLANT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FD399-58F1-E235-4819-8F3D2F546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Identifying degraded panels throughout the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70163-261E-86C6-8036-700BBB29D0F8}"/>
              </a:ext>
            </a:extLst>
          </p:cNvPr>
          <p:cNvSpPr txBox="1"/>
          <p:nvPr/>
        </p:nvSpPr>
        <p:spPr>
          <a:xfrm>
            <a:off x="7452852" y="6211669"/>
            <a:ext cx="473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Rohit Kumar Gupta</a:t>
            </a:r>
            <a:b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Analyst | Power &amp; Energy Analytics</a:t>
            </a:r>
          </a:p>
        </p:txBody>
      </p:sp>
    </p:spTree>
    <p:extLst>
      <p:ext uri="{BB962C8B-B14F-4D97-AF65-F5344CB8AC3E}">
        <p14:creationId xmlns:p14="http://schemas.microsoft.com/office/powerpoint/2010/main" val="387619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EF7E-61ED-252F-CF2D-64738CB2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5EE4-125D-910C-8F73-26F22CA8D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Solar Power plants management system relies on solar panel performance, to schedule panel &amp; inverter maintenance.</a:t>
            </a:r>
          </a:p>
          <a:p>
            <a:r>
              <a:rPr lang="en-IN" dirty="0"/>
              <a:t>This ensures smooth power generation by the unit without much power losses or low efficiency.</a:t>
            </a:r>
          </a:p>
          <a:p>
            <a:r>
              <a:rPr lang="en-IN" dirty="0"/>
              <a:t>Persistent underperformance of solar panels can lead to unmet power demand &amp;/or AC Power bottlenecking in peak generation hours.</a:t>
            </a:r>
          </a:p>
        </p:txBody>
      </p:sp>
    </p:spTree>
    <p:extLst>
      <p:ext uri="{BB962C8B-B14F-4D97-AF65-F5344CB8AC3E}">
        <p14:creationId xmlns:p14="http://schemas.microsoft.com/office/powerpoint/2010/main" val="21756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C43D-329C-7715-4BAE-53DC4FDD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64AC2-B92D-E4E1-8D76-44C37F8DA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solar power plant operator in India is facing significant drop in efficiency of the plant.</a:t>
            </a:r>
          </a:p>
          <a:p>
            <a:r>
              <a:rPr lang="en-IN" dirty="0"/>
              <a:t>Objective:</a:t>
            </a:r>
          </a:p>
          <a:p>
            <a:pPr lvl="1"/>
            <a:r>
              <a:rPr lang="en-IN" dirty="0"/>
              <a:t>Identifying the need for panel cleaning or maintenance.</a:t>
            </a:r>
          </a:p>
          <a:p>
            <a:pPr lvl="1"/>
            <a:r>
              <a:rPr lang="en-IN" dirty="0"/>
              <a:t>Identifying Faulty or Sub optimally performing equipment.</a:t>
            </a:r>
          </a:p>
        </p:txBody>
      </p:sp>
    </p:spTree>
    <p:extLst>
      <p:ext uri="{BB962C8B-B14F-4D97-AF65-F5344CB8AC3E}">
        <p14:creationId xmlns:p14="http://schemas.microsoft.com/office/powerpoint/2010/main" val="177566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F59D-3DAD-4559-E4EF-ADBA2B21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Solar Power Plant Info.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8A0D6-EBDB-001B-CAB0-4D345551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Power Plant 1</a:t>
            </a:r>
          </a:p>
          <a:p>
            <a:pPr lvl="1"/>
            <a:r>
              <a:rPr lang="en-IN" dirty="0"/>
              <a:t>Number of panels (Modules) = 22</a:t>
            </a:r>
          </a:p>
          <a:p>
            <a:pPr lvl="1"/>
            <a:r>
              <a:rPr lang="en-IN" dirty="0"/>
              <a:t>Capacity per Panel = 15000 kW</a:t>
            </a:r>
          </a:p>
          <a:p>
            <a:pPr lvl="1"/>
            <a:r>
              <a:rPr lang="en-IN" dirty="0"/>
              <a:t>Inverter Rating (Transformer incl.) = 1500 kVA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Power Plant 2</a:t>
            </a:r>
          </a:p>
          <a:p>
            <a:pPr lvl="1"/>
            <a:r>
              <a:rPr lang="en-IN" dirty="0"/>
              <a:t>Number of panels (Modules) = 22</a:t>
            </a:r>
          </a:p>
          <a:p>
            <a:pPr lvl="1"/>
            <a:r>
              <a:rPr lang="en-IN" dirty="0"/>
              <a:t>Capacity per Panel = 1500 kW</a:t>
            </a:r>
          </a:p>
          <a:p>
            <a:pPr lvl="1"/>
            <a:r>
              <a:rPr lang="en-IN" dirty="0"/>
              <a:t>Inverter Rating (Transformer incl.) = 1500 kVA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79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E3D702A-4A82-E00F-193E-5CEFD7B5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3717F2F-F10A-DA92-C226-AE046D0EE7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Daily generation data shows that the Plant 1 solar modules operate at higher efficiency </a:t>
            </a:r>
            <a:r>
              <a:rPr lang="en-IN" b="1" dirty="0"/>
              <a:t>(11.1%) </a:t>
            </a:r>
            <a:r>
              <a:rPr lang="en-IN" dirty="0"/>
              <a:t>higher than the Plant 2 Modules.</a:t>
            </a:r>
          </a:p>
          <a:p>
            <a:r>
              <a:rPr lang="en-IN" dirty="0"/>
              <a:t>Solar power modules are intentionally installed higher capacity than inverters power to counter cloudy days &amp; less irradiation. This leads to almost same </a:t>
            </a:r>
            <a:r>
              <a:rPr lang="en-IN" b="1" dirty="0"/>
              <a:t>average daily yield (3296 kWh for Plant 2 &amp; 3295 kWh for Plant 2)</a:t>
            </a:r>
            <a:r>
              <a:rPr lang="en-IN" dirty="0"/>
              <a:t>, despite plant 2 panels being less efficient.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B02CE00-C059-7895-EEEA-38443979F5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5" y="2133600"/>
            <a:ext cx="4725322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283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0830FC-E249-B015-6BBD-C22ED07B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5CB327-8429-661F-11C4-35A78D6A64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Plant 2</a:t>
            </a:r>
            <a:r>
              <a:rPr lang="en-IN" dirty="0"/>
              <a:t> efficiency </a:t>
            </a:r>
            <a:r>
              <a:rPr lang="en-IN" b="1" dirty="0"/>
              <a:t>drops</a:t>
            </a:r>
            <a:r>
              <a:rPr lang="en-IN" dirty="0"/>
              <a:t> significantly from </a:t>
            </a:r>
            <a:r>
              <a:rPr lang="en-IN" b="1" dirty="0"/>
              <a:t>0.97</a:t>
            </a:r>
            <a:r>
              <a:rPr lang="en-IN" dirty="0"/>
              <a:t> to </a:t>
            </a:r>
            <a:r>
              <a:rPr lang="en-IN" b="1" dirty="0"/>
              <a:t>0.63</a:t>
            </a:r>
            <a:r>
              <a:rPr lang="en-IN" dirty="0"/>
              <a:t> during peak irradiance hours. This suggests that the plant 2 panels may have </a:t>
            </a:r>
            <a:r>
              <a:rPr lang="en-IN" b="1" dirty="0"/>
              <a:t>aged</a:t>
            </a:r>
            <a:r>
              <a:rPr lang="en-IN" dirty="0"/>
              <a:t>, or </a:t>
            </a:r>
            <a:r>
              <a:rPr lang="en-IN" b="1" dirty="0"/>
              <a:t>degraded</a:t>
            </a:r>
            <a:r>
              <a:rPr lang="en-IN" dirty="0"/>
              <a:t>, or </a:t>
            </a:r>
            <a:r>
              <a:rPr lang="en-IN" b="1" dirty="0"/>
              <a:t>failing</a:t>
            </a:r>
            <a:r>
              <a:rPr lang="en-IN" dirty="0"/>
              <a:t>.</a:t>
            </a:r>
          </a:p>
          <a:p>
            <a:r>
              <a:rPr lang="en-IN" dirty="0"/>
              <a:t>As a result, Average hourly AC power output of plant 2 also </a:t>
            </a:r>
            <a:r>
              <a:rPr lang="en-IN" b="1" dirty="0"/>
              <a:t>drops</a:t>
            </a:r>
            <a:r>
              <a:rPr lang="en-IN" dirty="0"/>
              <a:t> or </a:t>
            </a:r>
            <a:r>
              <a:rPr lang="en-IN" b="1" dirty="0"/>
              <a:t>bottlenecks</a:t>
            </a:r>
            <a:r>
              <a:rPr lang="en-IN" dirty="0"/>
              <a:t> during </a:t>
            </a:r>
            <a:r>
              <a:rPr lang="en-IN" b="1" dirty="0"/>
              <a:t>peak irradiance hours</a:t>
            </a:r>
            <a:r>
              <a:rPr lang="en-IN" dirty="0"/>
              <a:t>. This leads to </a:t>
            </a:r>
            <a:r>
              <a:rPr lang="en-IN" b="1" dirty="0"/>
              <a:t>less capacity utilization</a:t>
            </a:r>
            <a:r>
              <a:rPr lang="en-IN" dirty="0"/>
              <a:t>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E2CDB09-237F-A00B-B98F-422F020AE0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176" y="2125663"/>
            <a:ext cx="4313863" cy="3785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794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187454-BB6A-E405-88D3-BD2DD205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B80F6-DAAB-88D8-8012-0B7E9D81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Plant 2 shows consistent drop in efficiency as compared to plant 1 </a:t>
            </a:r>
            <a:r>
              <a:rPr lang="en-IN" b="1" dirty="0"/>
              <a:t>(-11.1%)</a:t>
            </a:r>
            <a:r>
              <a:rPr lang="en-IN" dirty="0"/>
              <a:t>.</a:t>
            </a:r>
          </a:p>
          <a:p>
            <a:r>
              <a:rPr lang="en-IN" dirty="0"/>
              <a:t>Plant 2 records consistent more critical alerts everyday as compared to plant 1.</a:t>
            </a:r>
          </a:p>
          <a:p>
            <a:r>
              <a:rPr lang="en-IN" dirty="0"/>
              <a:t>Plant 2 panels are less efficient than plant 1. These panels require maintenance.</a:t>
            </a:r>
          </a:p>
        </p:txBody>
      </p:sp>
    </p:spTree>
    <p:extLst>
      <p:ext uri="{BB962C8B-B14F-4D97-AF65-F5344CB8AC3E}">
        <p14:creationId xmlns:p14="http://schemas.microsoft.com/office/powerpoint/2010/main" val="190694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14E5-2A3A-5DFD-8CA1-80D8B0D7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Operational Risk Areas For Plant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51AF3-5901-56B1-1D1B-A0A65F19D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54942" y="2133600"/>
            <a:ext cx="4848134" cy="3777622"/>
          </a:xfrm>
        </p:spPr>
        <p:txBody>
          <a:bodyPr/>
          <a:lstStyle/>
          <a:p>
            <a:r>
              <a:rPr lang="en-IN" b="1" dirty="0"/>
              <a:t>Plant 1</a:t>
            </a:r>
            <a:r>
              <a:rPr lang="en-IN" dirty="0"/>
              <a:t> Panels that are underperforming:</a:t>
            </a:r>
          </a:p>
          <a:p>
            <a:pPr lvl="1"/>
            <a:r>
              <a:rPr lang="en-IN" b="1" dirty="0"/>
              <a:t>bvBOhCH3iADSZry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1BY6WEcLGh8j5v7</a:t>
            </a:r>
            <a:r>
              <a:rPr lang="en-IN" dirty="0"/>
              <a:t>.</a:t>
            </a:r>
          </a:p>
          <a:p>
            <a:r>
              <a:rPr lang="en-IN" dirty="0"/>
              <a:t>These panels need </a:t>
            </a:r>
            <a:r>
              <a:rPr lang="en-IN" b="1" dirty="0"/>
              <a:t>cleaning/maintenance</a:t>
            </a:r>
            <a:r>
              <a:rPr lang="en-IN" dirty="0"/>
              <a:t>.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99F061-2F7E-0C63-3BD6-2C7D4BF387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344" y="1494502"/>
            <a:ext cx="4848134" cy="47393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2126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C869-D179-8678-ACBB-33329414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Operational Risk Areas for Plant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30BC5-DA75-2A77-019E-E86A09162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8465" y="1573161"/>
            <a:ext cx="5054611" cy="5132439"/>
          </a:xfrm>
        </p:spPr>
        <p:txBody>
          <a:bodyPr>
            <a:normAutofit/>
          </a:bodyPr>
          <a:lstStyle/>
          <a:p>
            <a:r>
              <a:rPr lang="en-IN" b="1" dirty="0"/>
              <a:t>Plant 2</a:t>
            </a:r>
            <a:r>
              <a:rPr lang="en-IN" dirty="0"/>
              <a:t> Panels that are </a:t>
            </a:r>
            <a:r>
              <a:rPr lang="en-IN" b="1" dirty="0"/>
              <a:t>Failing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81aHJ1q11NBPMrL</a:t>
            </a:r>
          </a:p>
          <a:p>
            <a:pPr lvl="1"/>
            <a:r>
              <a:rPr lang="en-IN" b="1" dirty="0"/>
              <a:t>Et9kgGMDl729KT4</a:t>
            </a:r>
          </a:p>
          <a:p>
            <a:pPr lvl="1"/>
            <a:r>
              <a:rPr lang="en-IN" b="1" dirty="0"/>
              <a:t>LYwnQax7tkwH5Cb</a:t>
            </a:r>
          </a:p>
          <a:p>
            <a:pPr lvl="1"/>
            <a:r>
              <a:rPr lang="en-IN" b="1" dirty="0"/>
              <a:t>q49J1IKaHRwDQnt</a:t>
            </a:r>
          </a:p>
          <a:p>
            <a:pPr lvl="1"/>
            <a:r>
              <a:rPr lang="en-IN" b="1" dirty="0"/>
              <a:t>Quc1TzYxW2pYoWX</a:t>
            </a:r>
          </a:p>
          <a:p>
            <a:pPr lvl="1"/>
            <a:r>
              <a:rPr lang="en-IN" b="1" dirty="0"/>
              <a:t>rrq4fwE8jgrTyWY</a:t>
            </a:r>
          </a:p>
          <a:p>
            <a:r>
              <a:rPr lang="en-IN" b="1" dirty="0"/>
              <a:t>Plant 2</a:t>
            </a:r>
            <a:r>
              <a:rPr lang="en-IN" dirty="0"/>
              <a:t> Panels that need cleaning/maintenance:</a:t>
            </a:r>
          </a:p>
          <a:p>
            <a:pPr lvl="1"/>
            <a:r>
              <a:rPr lang="en-IN" dirty="0"/>
              <a:t>All panels except </a:t>
            </a:r>
            <a:r>
              <a:rPr lang="en-IN" b="1" dirty="0"/>
              <a:t>IQ2d7wF4YD8zU1Q</a:t>
            </a:r>
            <a:r>
              <a:rPr lang="en-IN" dirty="0"/>
              <a:t> and </a:t>
            </a:r>
            <a:r>
              <a:rPr lang="en-IN" b="1" dirty="0"/>
              <a:t>xMbIugepa2P7lBB</a:t>
            </a:r>
            <a:r>
              <a:rPr lang="en-IN" dirty="0"/>
              <a:t> needs maintenance. </a:t>
            </a:r>
          </a:p>
          <a:p>
            <a:r>
              <a:rPr lang="en-IN" b="1" dirty="0"/>
              <a:t>Failing</a:t>
            </a:r>
            <a:r>
              <a:rPr lang="en-IN" dirty="0"/>
              <a:t> panels needs </a:t>
            </a:r>
            <a:r>
              <a:rPr lang="en-IN" b="1" dirty="0"/>
              <a:t>replacement</a:t>
            </a:r>
            <a:r>
              <a:rPr lang="en-IN" dirty="0"/>
              <a:t> and </a:t>
            </a:r>
            <a:r>
              <a:rPr lang="en-IN" b="1" dirty="0"/>
              <a:t>underperforming </a:t>
            </a:r>
            <a:r>
              <a:rPr lang="en-IN" dirty="0"/>
              <a:t>panels probably needs </a:t>
            </a:r>
            <a:r>
              <a:rPr lang="en-IN" b="1" dirty="0"/>
              <a:t>cleaning/maintenance</a:t>
            </a:r>
            <a:r>
              <a:rPr lang="en-IN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9F3428-D84E-57FE-2889-174CD4E05A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076" y="1573161"/>
            <a:ext cx="5021193" cy="4758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4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965A8D-6B37-7978-991E-68AFC530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and Impact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E7414-7CDD-4A94-0006-33D23BBEE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By </a:t>
            </a:r>
            <a:r>
              <a:rPr lang="en-IN" b="1" dirty="0"/>
              <a:t>Replacing</a:t>
            </a:r>
            <a:r>
              <a:rPr lang="en-IN" dirty="0"/>
              <a:t> the </a:t>
            </a:r>
            <a:r>
              <a:rPr lang="en-IN" b="1" dirty="0"/>
              <a:t>Failing</a:t>
            </a:r>
            <a:r>
              <a:rPr lang="en-IN" dirty="0"/>
              <a:t> </a:t>
            </a:r>
            <a:r>
              <a:rPr lang="en-IN" b="1" dirty="0"/>
              <a:t>panels</a:t>
            </a:r>
            <a:r>
              <a:rPr lang="en-IN" dirty="0"/>
              <a:t> and </a:t>
            </a:r>
            <a:r>
              <a:rPr lang="en-IN" b="1" dirty="0"/>
              <a:t>maintaining/cleaning </a:t>
            </a:r>
            <a:r>
              <a:rPr lang="en-IN" dirty="0"/>
              <a:t>the </a:t>
            </a:r>
            <a:r>
              <a:rPr lang="en-IN" b="1" dirty="0"/>
              <a:t>Underperforming panels, </a:t>
            </a:r>
            <a:r>
              <a:rPr lang="en-IN" dirty="0"/>
              <a:t>the plant operators can:</a:t>
            </a:r>
          </a:p>
          <a:p>
            <a:pPr lvl="1"/>
            <a:r>
              <a:rPr lang="en-IN" b="1" dirty="0"/>
              <a:t>Improve</a:t>
            </a:r>
            <a:r>
              <a:rPr lang="en-IN" dirty="0"/>
              <a:t> Solar Power </a:t>
            </a:r>
            <a:r>
              <a:rPr lang="en-IN" b="1" dirty="0"/>
              <a:t>Generation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Check </a:t>
            </a:r>
            <a:r>
              <a:rPr lang="en-IN" b="1" dirty="0"/>
              <a:t>bottlenecking</a:t>
            </a:r>
            <a:r>
              <a:rPr lang="en-IN" dirty="0"/>
              <a:t> issue.</a:t>
            </a:r>
          </a:p>
          <a:p>
            <a:pPr lvl="1"/>
            <a:r>
              <a:rPr lang="en-IN" b="1" dirty="0"/>
              <a:t>Increase efficiency</a:t>
            </a:r>
            <a:r>
              <a:rPr lang="en-IN" dirty="0"/>
              <a:t> of the overall system.</a:t>
            </a:r>
          </a:p>
        </p:txBody>
      </p:sp>
    </p:spTree>
    <p:extLst>
      <p:ext uri="{BB962C8B-B14F-4D97-AF65-F5344CB8AC3E}">
        <p14:creationId xmlns:p14="http://schemas.microsoft.com/office/powerpoint/2010/main" val="3348916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8CA2-AEBE-F4FD-E650-8B7A18E0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5B3A-BA63-374D-A6AE-D640EA68A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Python, Pandas, </a:t>
            </a:r>
            <a:r>
              <a:rPr lang="en-IN" dirty="0" err="1"/>
              <a:t>Numpy</a:t>
            </a:r>
            <a:endParaRPr lang="en-IN" dirty="0"/>
          </a:p>
          <a:p>
            <a:r>
              <a:rPr lang="en-IN" dirty="0"/>
              <a:t>Data Validation</a:t>
            </a:r>
          </a:p>
          <a:p>
            <a:r>
              <a:rPr lang="en-IN" dirty="0"/>
              <a:t>Data Engineering</a:t>
            </a:r>
          </a:p>
          <a:p>
            <a:r>
              <a:rPr lang="en-IN" dirty="0"/>
              <a:t>Solar Power Energy Analysis</a:t>
            </a:r>
          </a:p>
          <a:p>
            <a:r>
              <a:rPr lang="en-IN" dirty="0"/>
              <a:t>Energy and Power Sector Analysis</a:t>
            </a:r>
          </a:p>
        </p:txBody>
      </p:sp>
    </p:spTree>
    <p:extLst>
      <p:ext uri="{BB962C8B-B14F-4D97-AF65-F5344CB8AC3E}">
        <p14:creationId xmlns:p14="http://schemas.microsoft.com/office/powerpoint/2010/main" val="1275724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118</TotalTime>
  <Words>484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 Light</vt:lpstr>
      <vt:lpstr>Century Gothic</vt:lpstr>
      <vt:lpstr>Wingdings 3</vt:lpstr>
      <vt:lpstr>Wisp</vt:lpstr>
      <vt:lpstr>SOLAR POWER PLANT ANALYTICS</vt:lpstr>
      <vt:lpstr>Business Context</vt:lpstr>
      <vt:lpstr>Business Problem</vt:lpstr>
      <vt:lpstr>Solar Power Plant Info.</vt:lpstr>
      <vt:lpstr>Insights</vt:lpstr>
      <vt:lpstr>Insights</vt:lpstr>
      <vt:lpstr>Key Insights</vt:lpstr>
      <vt:lpstr>Operational Risk Areas For Plant 1</vt:lpstr>
      <vt:lpstr>Operational Risk Areas for Plant 2</vt:lpstr>
      <vt:lpstr>Recommendations and Impact</vt:lpstr>
      <vt:lpstr>Tools and Skills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Gupta</dc:creator>
  <cp:lastModifiedBy>Rohit Gupta</cp:lastModifiedBy>
  <cp:revision>4</cp:revision>
  <dcterms:created xsi:type="dcterms:W3CDTF">2026-02-06T06:31:04Z</dcterms:created>
  <dcterms:modified xsi:type="dcterms:W3CDTF">2026-02-06T08:29:19Z</dcterms:modified>
</cp:coreProperties>
</file>